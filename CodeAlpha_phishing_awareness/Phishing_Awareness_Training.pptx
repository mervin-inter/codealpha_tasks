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731520"/>
            <a:ext cx="2651760" cy="2651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60320" y="2651760"/>
            <a:ext cx="822960" cy="82296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697480"/>
            <a:ext cx="731520" cy="731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0" y="9144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PHISHING</a:t>
            </a:r>
            <a:endParaRPr lang="en-US" sz="5200" dirty="0"/>
          </a:p>
        </p:txBody>
      </p:sp>
      <p:sp>
        <p:nvSpPr>
          <p:cNvPr id="8" name="Text 4"/>
          <p:cNvSpPr/>
          <p:nvPr/>
        </p:nvSpPr>
        <p:spPr>
          <a:xfrm>
            <a:off x="4114800" y="1691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AWARENESS</a:t>
            </a:r>
            <a:endParaRPr lang="en-US" sz="5200" dirty="0"/>
          </a:p>
        </p:txBody>
      </p:sp>
      <p:sp>
        <p:nvSpPr>
          <p:cNvPr id="9" name="Text 5"/>
          <p:cNvSpPr/>
          <p:nvPr/>
        </p:nvSpPr>
        <p:spPr>
          <a:xfrm>
            <a:off x="4114800" y="24688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</a:t>
            </a:r>
            <a:endParaRPr lang="en-US" sz="5200" dirty="0"/>
          </a:p>
        </p:txBody>
      </p:sp>
      <p:sp>
        <p:nvSpPr>
          <p:cNvPr id="10" name="Shape 6"/>
          <p:cNvSpPr/>
          <p:nvPr/>
        </p:nvSpPr>
        <p:spPr>
          <a:xfrm>
            <a:off x="4114800" y="3383280"/>
            <a:ext cx="4389120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0" y="35204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yourself and your organization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cyber threats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114800" y="4572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Awareness Program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PHISHING?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377440" cy="3474720"/>
          </a:xfrm>
          <a:prstGeom prst="rect">
            <a:avLst/>
          </a:prstGeom>
          <a:solidFill>
            <a:srgbClr val="161B22"/>
          </a:solidFill>
          <a:ln w="25400">
            <a:solidFill>
              <a:srgbClr val="F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data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 involve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Verizon DBIR 2024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206240"/>
            <a:ext cx="2377440" cy="182880"/>
          </a:xfrm>
          <a:prstGeom prst="rect">
            <a:avLst/>
          </a:prstGeom>
          <a:solidFill>
            <a:srgbClr val="21262D"/>
          </a:solidFill>
          <a:ln w="25400">
            <a:solidFill>
              <a:srgbClr val="FF444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840480"/>
            <a:ext cx="1097280" cy="1097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0" y="9144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 attack where criminals disguise themselves as trusted entities to trick victims into: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017520" y="1828800"/>
            <a:ext cx="1783080" cy="2286000"/>
          </a:xfrm>
          <a:prstGeom prst="rect">
            <a:avLst/>
          </a:prstGeom>
          <a:solidFill>
            <a:srgbClr val="21262D"/>
          </a:solidFill>
          <a:ln w="25400">
            <a:solidFill>
              <a:srgbClr val="FF444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965960"/>
            <a:ext cx="731520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17520" y="283464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Revealing Passwords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Credentials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937760" y="1828800"/>
            <a:ext cx="1783080" cy="2286000"/>
          </a:xfrm>
          <a:prstGeom prst="rect">
            <a:avLst/>
          </a:prstGeom>
          <a:solidFill>
            <a:srgbClr val="21262D"/>
          </a:solidFill>
          <a:ln w="25400">
            <a:solidFill>
              <a:srgbClr val="FF8C0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1965960"/>
            <a:ext cx="731520" cy="7315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37760" y="283464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Malicious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or Files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858000" y="1828800"/>
            <a:ext cx="1783080" cy="2286000"/>
          </a:xfrm>
          <a:prstGeom prst="rect">
            <a:avLst/>
          </a:prstGeom>
          <a:solidFill>
            <a:srgbClr val="21262D"/>
          </a:solidFill>
          <a:ln w="25400">
            <a:solidFill>
              <a:srgbClr val="00BCD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1965960"/>
            <a:ext cx="731520" cy="7315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58000" y="283464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Sensitive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65760" y="44805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Phishing is responsible for 90% of successful cyber attacks on organizations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TYPES OF PHISHING ATTACKS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88920" cy="1783080"/>
          </a:xfrm>
          <a:prstGeom prst="rect">
            <a:avLst/>
          </a:prstGeom>
          <a:solidFill>
            <a:srgbClr val="21262D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278892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1430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1247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" y="167335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emails impersonating banks, services, or colleagues to steal credentials or deliver malware.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172968" y="960120"/>
            <a:ext cx="2788920" cy="1783080"/>
          </a:xfrm>
          <a:prstGeom prst="rect">
            <a:avLst/>
          </a:prstGeom>
          <a:solidFill>
            <a:srgbClr val="21262D"/>
          </a:solidFill>
          <a:ln w="19050">
            <a:solidFill>
              <a:srgbClr val="FF8C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72968" y="960120"/>
            <a:ext cx="2788920" cy="6400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1430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67328" y="11247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 / Vishing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64408" y="167335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texts or voice calls from fake 'banks' or 'support' pressuring you to act urgently.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17336" y="960120"/>
            <a:ext cx="2788920" cy="1783080"/>
          </a:xfrm>
          <a:prstGeom prst="rect">
            <a:avLst/>
          </a:prstGeom>
          <a:solidFill>
            <a:srgbClr val="21262D"/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17336" y="960120"/>
            <a:ext cx="2788920" cy="6400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1430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11696" y="11247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08776" y="167335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personalized attacks targeting specific individuals using researched personal details.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228600" y="2926080"/>
            <a:ext cx="2788920" cy="1783080"/>
          </a:xfrm>
          <a:prstGeom prst="rect">
            <a:avLst/>
          </a:prstGeom>
          <a:solidFill>
            <a:srgbClr val="21262D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28600" y="2926080"/>
            <a:ext cx="278892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" y="31089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30906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320040" y="363931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Redirecting users to fake websites even when typing the correct URL in their browser.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172968" y="2926080"/>
            <a:ext cx="2788920" cy="1783080"/>
          </a:xfrm>
          <a:prstGeom prst="rect">
            <a:avLst/>
          </a:prstGeom>
          <a:solidFill>
            <a:srgbClr val="21262D"/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172968" y="2926080"/>
            <a:ext cx="2788920" cy="6400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310896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67328" y="30906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Attacks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264408" y="363931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deepfake voices, videos, or hyper-realistic emails that are nearly indistinguishable.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117336" y="2926080"/>
            <a:ext cx="2788920" cy="1783080"/>
          </a:xfrm>
          <a:prstGeom prst="rect">
            <a:avLst/>
          </a:prstGeom>
          <a:solidFill>
            <a:srgbClr val="21262D"/>
          </a:solidFill>
          <a:ln w="19050">
            <a:solidFill>
              <a:srgbClr val="FF8C0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117336" y="2926080"/>
            <a:ext cx="2788920" cy="6400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310896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11696" y="30906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208776" y="363931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Executive-level targeting — CFOs, CEOs, and senior staff tricked into authorizing wire transfers.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RECOGNIZING PHISHING EMAILS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572000" cy="3977640"/>
          </a:xfrm>
          <a:prstGeom prst="rect">
            <a:avLst/>
          </a:prstGeom>
          <a:solidFill>
            <a:srgbClr val="161B22"/>
          </a:solidFill>
          <a:ln w="25400">
            <a:solidFill>
              <a:srgbClr val="F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572000" cy="41148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SUSPICIOUS EMAIL — EXAMPLE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security-noreply@paypa1-verify.com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810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you@company.com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15798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1579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account will be suspended!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523744"/>
            <a:ext cx="425196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78608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detected unusual activity on your account. Your access will be SUSPENDED in 24 hours unless you verify your identity immediately.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here to verify now 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05840" y="3931920"/>
            <a:ext cx="2743200" cy="41148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931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ACCOUNT NOW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74920" y="1170432"/>
            <a:ext cx="374904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11704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Misspelled domain: 'paypa1' (number 1, not 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0" y="1554480"/>
            <a:ext cx="374904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15544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Urgent language designed to panic you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74920" y="1965960"/>
            <a:ext cx="374904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1965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Generic greeting — no personal name used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2377440"/>
            <a:ext cx="374904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23774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Threatening consequences to force action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4920" y="2788920"/>
            <a:ext cx="374904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7889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Vague 'click here' link hides real destination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74920" y="3200400"/>
            <a:ext cx="374904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32004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Dangerous CTA button — never click!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4920" y="914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TO SPOT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74920" y="3657600"/>
            <a:ext cx="3749040" cy="1234440"/>
          </a:xfrm>
          <a:prstGeom prst="rect">
            <a:avLst/>
          </a:prstGeom>
          <a:solidFill>
            <a:srgbClr val="21262D"/>
          </a:solidFill>
          <a:ln w="25400">
            <a:solidFill>
              <a:srgbClr val="00C853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3749040"/>
            <a:ext cx="365760" cy="36576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577840" y="37033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Habit: Hover over links before clicking to preview the real URL. When in doubt — DELETE the email.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SPOTTING FAKE WEBSITES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77640" cy="3977640"/>
          </a:xfrm>
          <a:prstGeom prst="rect">
            <a:avLst/>
          </a:prstGeom>
          <a:solidFill>
            <a:srgbClr val="21262D"/>
          </a:solidFill>
          <a:ln w="31750">
            <a:solidFill>
              <a:srgbClr val="00C8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3977640" cy="4572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8755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95097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WEBSITE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HTTPS with valid SSL padlock icon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11480" y="1965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 domain: paypal.com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11480" y="2423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Professional, error-free design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11480" y="2880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pressure popups or countdown timers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11480" y="3337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Contact info &amp; privacy policy present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11480" y="3794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URL matches the link you clicked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892040" y="914400"/>
            <a:ext cx="3977640" cy="3977640"/>
          </a:xfrm>
          <a:prstGeom prst="rect">
            <a:avLst/>
          </a:prstGeom>
          <a:solidFill>
            <a:srgbClr val="21262D"/>
          </a:solidFill>
          <a:ln w="31750">
            <a:solidFill>
              <a:srgbClr val="FF444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92040" y="914400"/>
            <a:ext cx="3977640" cy="45720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98755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49240" y="95097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WEBSITE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02920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HTTP only — no SSL (or fake padlock)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029200" y="1965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Lookalike domain: paypa1-secure.net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029200" y="2423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Poor design, spelling mistakes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5029200" y="2880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Aggressive popups: 'Act in 10 minutes!'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029200" y="3337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real contact or legal pages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5029200" y="3794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URL differs from what was advertised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4416552" y="914400"/>
            <a:ext cx="320040" cy="39776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325112" y="2560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ENGINEERING TACTICS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 human psychology — not just technology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798064" cy="1645920"/>
          </a:xfrm>
          <a:prstGeom prst="rect">
            <a:avLst/>
          </a:prstGeom>
          <a:solidFill>
            <a:srgbClr val="21262D"/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" y="1344168"/>
            <a:ext cx="548640" cy="54864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353312"/>
            <a:ext cx="530352" cy="530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13441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URGENCY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38328" y="1920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NOW or lose access!"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8328" y="222199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panic stops people from thinking critically. Attackers impose fake deadlines to rush decisions.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72968" y="1234440"/>
            <a:ext cx="2798064" cy="1645920"/>
          </a:xfrm>
          <a:prstGeom prst="rect">
            <a:avLst/>
          </a:prstGeom>
          <a:solidFill>
            <a:srgbClr val="21262D"/>
          </a:solidFill>
          <a:ln w="19050">
            <a:solidFill>
              <a:srgbClr val="FF8C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82696" y="134416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353312"/>
            <a:ext cx="530352" cy="5303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22776" y="13441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AUTHORITY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282696" y="1920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your CEO — wire funds"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282696" y="222199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executives, IT, banks, or government officials exploits our instinct to obey.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17336" y="1234440"/>
            <a:ext cx="2798064" cy="1645920"/>
          </a:xfrm>
          <a:prstGeom prst="rect">
            <a:avLst/>
          </a:prstGeom>
          <a:solidFill>
            <a:srgbClr val="21262D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27064" y="1344168"/>
            <a:ext cx="548640" cy="54864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353312"/>
            <a:ext cx="530352" cy="5303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67144" y="13441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FAMILIARITY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227064" y="1920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friend shared this"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227064" y="222199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names you know, copying real email signatures, and mimicking familiar brands to build trust.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228600" y="3063240"/>
            <a:ext cx="2798064" cy="1645920"/>
          </a:xfrm>
          <a:prstGeom prst="rect">
            <a:avLst/>
          </a:prstGeom>
          <a:solidFill>
            <a:srgbClr val="21262D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38328" y="3172968"/>
            <a:ext cx="548640" cy="5486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182112"/>
            <a:ext cx="530352" cy="5303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78408" y="31729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FEAR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338328" y="3749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"You're being investigated"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38328" y="405079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Threatening legal action, account suspension, or virus infection to override rational thinking.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172968" y="3063240"/>
            <a:ext cx="2798064" cy="1645920"/>
          </a:xfrm>
          <a:prstGeom prst="rect">
            <a:avLst/>
          </a:prstGeom>
          <a:solidFill>
            <a:srgbClr val="21262D"/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282696" y="3172968"/>
            <a:ext cx="548640" cy="54864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182112"/>
            <a:ext cx="530352" cy="53035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22776" y="31729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RECIPROCITY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3282696" y="3749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"Here's a free gift/reward"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282696" y="405079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something valuable in exchange for credentials or clicking a link.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117336" y="3063240"/>
            <a:ext cx="2798064" cy="1645920"/>
          </a:xfrm>
          <a:prstGeom prst="rect">
            <a:avLst/>
          </a:prstGeom>
          <a:solidFill>
            <a:srgbClr val="21262D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227064" y="3172968"/>
            <a:ext cx="548640" cy="5486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3182112"/>
            <a:ext cx="530352" cy="53035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867144" y="31729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PRETEXTING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6227064" y="3749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dept — need your login"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227064" y="405079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 elaborate backstory to justify why they need your sensitive information.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PRACTICES &amp; TIPS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977640" cy="41148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 THESE THINGS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397764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38988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135331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 on all accounts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4320" y="1828800"/>
            <a:ext cx="397764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86537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" y="182880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 identity via a separate channel (call back on a known number)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74320" y="2304288"/>
            <a:ext cx="397764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34086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" y="230428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preview URLs before clicking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274320" y="2779776"/>
            <a:ext cx="397764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816352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3232" y="277977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and antivirus updated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274320" y="3255264"/>
            <a:ext cx="397764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291840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13232" y="325526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 with unique passwords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274320" y="3730752"/>
            <a:ext cx="397764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767328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13232" y="373075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your IT/security team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274320" y="4206240"/>
            <a:ext cx="397764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4242816"/>
            <a:ext cx="292608" cy="2926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13232" y="420624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you click — pause and question urgency</a:t>
            </a:r>
            <a:endParaRPr lang="en-US" sz="1150" dirty="0"/>
          </a:p>
        </p:txBody>
      </p:sp>
      <p:sp>
        <p:nvSpPr>
          <p:cNvPr id="27" name="Shape 18"/>
          <p:cNvSpPr/>
          <p:nvPr/>
        </p:nvSpPr>
        <p:spPr>
          <a:xfrm>
            <a:off x="4892040" y="868680"/>
            <a:ext cx="3977640" cy="41148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4892040" y="8686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NEVER DO THESE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4892040" y="1353312"/>
            <a:ext cx="397764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5192" y="1389888"/>
            <a:ext cx="292608" cy="29260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330952" y="135331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passwords over email, chat, or phone</a:t>
            </a:r>
            <a:endParaRPr lang="en-US" sz="1150" dirty="0"/>
          </a:p>
        </p:txBody>
      </p:sp>
      <p:sp>
        <p:nvSpPr>
          <p:cNvPr id="32" name="Shape 22"/>
          <p:cNvSpPr/>
          <p:nvPr/>
        </p:nvSpPr>
        <p:spPr>
          <a:xfrm>
            <a:off x="4892040" y="1828800"/>
            <a:ext cx="397764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5192" y="1865376"/>
            <a:ext cx="292608" cy="29260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330952" y="182880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links in unsolicited or unexpected emails</a:t>
            </a:r>
            <a:endParaRPr lang="en-US" sz="1150" dirty="0"/>
          </a:p>
        </p:txBody>
      </p:sp>
      <p:sp>
        <p:nvSpPr>
          <p:cNvPr id="35" name="Shape 24"/>
          <p:cNvSpPr/>
          <p:nvPr/>
        </p:nvSpPr>
        <p:spPr>
          <a:xfrm>
            <a:off x="4892040" y="2304288"/>
            <a:ext cx="397764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5192" y="2340864"/>
            <a:ext cx="292608" cy="29260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330952" y="230428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attachments from unknown senders</a:t>
            </a:r>
            <a:endParaRPr lang="en-US" sz="1150" dirty="0"/>
          </a:p>
        </p:txBody>
      </p:sp>
      <p:sp>
        <p:nvSpPr>
          <p:cNvPr id="38" name="Shape 26"/>
          <p:cNvSpPr/>
          <p:nvPr/>
        </p:nvSpPr>
        <p:spPr>
          <a:xfrm>
            <a:off x="4892040" y="2779776"/>
            <a:ext cx="397764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5192" y="2816352"/>
            <a:ext cx="292608" cy="292608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5330952" y="277977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credentials after clicking an email link</a:t>
            </a:r>
            <a:endParaRPr lang="en-US" sz="1150" dirty="0"/>
          </a:p>
        </p:txBody>
      </p:sp>
      <p:sp>
        <p:nvSpPr>
          <p:cNvPr id="41" name="Shape 28"/>
          <p:cNvSpPr/>
          <p:nvPr/>
        </p:nvSpPr>
        <p:spPr>
          <a:xfrm>
            <a:off x="4892040" y="3255264"/>
            <a:ext cx="397764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65192" y="3291840"/>
            <a:ext cx="292608" cy="292608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5330952" y="325526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password across multiple sites</a:t>
            </a:r>
            <a:endParaRPr lang="en-US" sz="1150" dirty="0"/>
          </a:p>
        </p:txBody>
      </p:sp>
      <p:sp>
        <p:nvSpPr>
          <p:cNvPr id="44" name="Shape 30"/>
          <p:cNvSpPr/>
          <p:nvPr/>
        </p:nvSpPr>
        <p:spPr>
          <a:xfrm>
            <a:off x="4892040" y="3730752"/>
            <a:ext cx="397764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65192" y="3767328"/>
            <a:ext cx="292608" cy="292608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5330952" y="373075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security alerts or software updates</a:t>
            </a:r>
            <a:endParaRPr lang="en-US" sz="1150" dirty="0"/>
          </a:p>
        </p:txBody>
      </p:sp>
      <p:sp>
        <p:nvSpPr>
          <p:cNvPr id="47" name="Shape 32"/>
          <p:cNvSpPr/>
          <p:nvPr/>
        </p:nvSpPr>
        <p:spPr>
          <a:xfrm>
            <a:off x="4892040" y="4206240"/>
            <a:ext cx="397764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65192" y="4242816"/>
            <a:ext cx="292608" cy="292608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5330952" y="420624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a message is safe because it looks real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CASE STUDIES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261872"/>
          </a:xfrm>
          <a:prstGeom prst="rect">
            <a:avLst/>
          </a:prstGeom>
          <a:solidFill>
            <a:srgbClr val="21262D"/>
          </a:solidFill>
          <a:ln w="25400">
            <a:solidFill>
              <a:srgbClr val="F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" cy="126187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Hack (2020)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 stolen in Bitcoin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8920" y="1005840"/>
            <a:ext cx="36576" cy="100584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987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126187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called Twitter employees, impersonating IT support, and socially engineered internal credentials.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36576" cy="100584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987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72200" y="126187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give credentials over the phone. IT will never ask for your password.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8595360" cy="1261872"/>
          </a:xfrm>
          <a:prstGeom prst="rect">
            <a:avLst/>
          </a:prstGeom>
          <a:solidFill>
            <a:srgbClr val="21262D"/>
          </a:solidFill>
          <a:ln w="25400">
            <a:solidFill>
              <a:srgbClr val="FF8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86000"/>
            <a:ext cx="274320" cy="126187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Ubiquiti Networks (2015)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$46.7M lost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88920" y="2377440"/>
            <a:ext cx="36576" cy="100584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23591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0" y="263347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received spoofed emails appearing to be from executives, ordering large wire transfers to attacker accounts (BEC scam).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35040" y="2377440"/>
            <a:ext cx="36576" cy="100584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3591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263347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wire transfer requests by calling the requester directly on a known number.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8595360" cy="1261872"/>
          </a:xfrm>
          <a:prstGeom prst="rect">
            <a:avLst/>
          </a:prstGeom>
          <a:solidFill>
            <a:srgbClr val="21262D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57600"/>
            <a:ext cx="274320" cy="12618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Security (2011)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of SecurID tokens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88920" y="3749040"/>
            <a:ext cx="36576" cy="100584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0" y="3730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0" y="400507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phishing email with an Excel attachment titled 'Recruitment Plan' opened the door to the entire company network.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35040" y="3749040"/>
            <a:ext cx="36576" cy="100584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7307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400507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open unexpected attachments — even from known senders. Verify first.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attacks succeeded because of human error — not technical failures.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KNOWLEDGE CHECK — QUIZ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261872"/>
          </a:xfrm>
          <a:prstGeom prst="rect">
            <a:avLst/>
          </a:prstGeom>
          <a:solidFill>
            <a:srgbClr val="21262D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926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You receive an urgent email from 'paypa1-secure.com' saying your account is locked. What should you do?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4160520" cy="292608"/>
          </a:xfrm>
          <a:prstGeom prst="rect">
            <a:avLst/>
          </a:prstGeom>
          <a:solidFill>
            <a:srgbClr val="0D2B0D"/>
          </a:solidFill>
          <a:ln w="15240">
            <a:solidFill>
              <a:srgbClr val="00C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1732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A) Delete the email and go directly to paypal.com by typing it in your browser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160520" cy="292608"/>
          </a:xfrm>
          <a:prstGeom prst="rect">
            <a:avLst/>
          </a:prstGeom>
          <a:solidFill>
            <a:srgbClr val="2B0D0D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7448" y="1417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B) Click the link and log in to fix the issue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764792"/>
            <a:ext cx="4160520" cy="292608"/>
          </a:xfrm>
          <a:prstGeom prst="rect">
            <a:avLst/>
          </a:prstGeom>
          <a:solidFill>
            <a:srgbClr val="2B0D0D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764792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C) Reply to ask if it's real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764792"/>
            <a:ext cx="4160520" cy="292608"/>
          </a:xfrm>
          <a:prstGeom prst="rect">
            <a:avLst/>
          </a:prstGeom>
          <a:solidFill>
            <a:srgbClr val="2B0D0D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76479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D) Forward to colleagues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8595360" cy="1261872"/>
          </a:xfrm>
          <a:prstGeom prst="rect">
            <a:avLst/>
          </a:prstGeom>
          <a:solidFill>
            <a:srgbClr val="21262D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4086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Your 'CEO' emails asking you to urgently wire $50,000. The email looks perfect. What's your FIRST step?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2788920"/>
            <a:ext cx="4160520" cy="292608"/>
          </a:xfrm>
          <a:prstGeom prst="rect">
            <a:avLst/>
          </a:prstGeom>
          <a:solidFill>
            <a:srgbClr val="0D2B0D"/>
          </a:solidFill>
          <a:ln w="15240">
            <a:solidFill>
              <a:srgbClr val="00C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78892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C) Call the CEO directly on their known phone number to verify the request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788920"/>
            <a:ext cx="4160520" cy="292608"/>
          </a:xfrm>
          <a:prstGeom prst="rect">
            <a:avLst/>
          </a:prstGeom>
          <a:solidFill>
            <a:srgbClr val="2B0D0D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27889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A) Process it — the CEO needs this fast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136392"/>
            <a:ext cx="4160520" cy="292608"/>
          </a:xfrm>
          <a:prstGeom prst="rect">
            <a:avLst/>
          </a:prstGeom>
          <a:solidFill>
            <a:srgbClr val="2B0D0D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136392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B) Reply to the email asking for more details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136392"/>
            <a:ext cx="4160520" cy="292608"/>
          </a:xfrm>
          <a:prstGeom prst="rect">
            <a:avLst/>
          </a:prstGeom>
          <a:solidFill>
            <a:srgbClr val="2B0D0D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7448" y="313639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D) Approve — executives always need quick action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8595360" cy="1261872"/>
          </a:xfrm>
          <a:prstGeom prst="rect">
            <a:avLst/>
          </a:prstGeom>
          <a:solidFill>
            <a:srgbClr val="21262D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71246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A website URL shows 'https://secure-bank-login.net/bankofamerica'. Is this safe?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11480" y="4160520"/>
            <a:ext cx="4160520" cy="292608"/>
          </a:xfrm>
          <a:prstGeom prst="rect">
            <a:avLst/>
          </a:prstGeom>
          <a:solidFill>
            <a:srgbClr val="0D2B0D"/>
          </a:solidFill>
          <a:ln w="15240">
            <a:solidFill>
              <a:srgbClr val="00C8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16052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B) No — the real domain is 'secure-bank-login.net', not bankofamerica.com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4160520"/>
            <a:ext cx="4160520" cy="292608"/>
          </a:xfrm>
          <a:prstGeom prst="rect">
            <a:avLst/>
          </a:prstGeom>
          <a:solidFill>
            <a:srgbClr val="2B0D0D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41605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A) Yes — it has HTTPS so it's secure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4507992"/>
            <a:ext cx="4160520" cy="292608"/>
          </a:xfrm>
          <a:prstGeom prst="rect">
            <a:avLst/>
          </a:prstGeom>
          <a:solidFill>
            <a:srgbClr val="2B0D0D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507992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C) Maybe — check if it has a padlock icon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4507992"/>
            <a:ext cx="4160520" cy="292608"/>
          </a:xfrm>
          <a:prstGeom prst="rect">
            <a:avLst/>
          </a:prstGeom>
          <a:solidFill>
            <a:srgbClr val="2B0D0D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7448" y="450799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D) Yes — it mentions Bank of America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IF YOU SUSPECT A PHISHING ATTACK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FAST — Follow these steps immediately: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664208" cy="3566160"/>
          </a:xfrm>
          <a:prstGeom prst="rect">
            <a:avLst/>
          </a:prstGeom>
          <a:solidFill>
            <a:srgbClr val="21262D"/>
          </a:solidFill>
          <a:ln w="25400">
            <a:solidFill>
              <a:srgbClr val="F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1664208" cy="7315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0116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" y="2788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— Don't Click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338328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click any links, open attachments, or download files. Even previewing can be dangerous.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011680" y="1280160"/>
            <a:ext cx="1664208" cy="3566160"/>
          </a:xfrm>
          <a:prstGeom prst="rect">
            <a:avLst/>
          </a:prstGeom>
          <a:solidFill>
            <a:srgbClr val="21262D"/>
          </a:solidFill>
          <a:ln w="25400">
            <a:solidFill>
              <a:srgbClr val="FF8C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11680" y="1280160"/>
            <a:ext cx="1664208" cy="7315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11680" y="137160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201168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84832" y="2788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103120" y="338328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the suspicious email to your IT security team or use the 'Report Phishing' button in your email client.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749040" y="1280160"/>
            <a:ext cx="1664208" cy="3566160"/>
          </a:xfrm>
          <a:prstGeom prst="rect">
            <a:avLst/>
          </a:prstGeom>
          <a:solidFill>
            <a:srgbClr val="21262D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749040" y="1280160"/>
            <a:ext cx="1664208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749040" y="137160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201168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22192" y="2788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840480" y="338328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entered credentials, change your passwords immediately — starting with the compromised account.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486400" y="1280160"/>
            <a:ext cx="1664208" cy="3566160"/>
          </a:xfrm>
          <a:prstGeom prst="rect">
            <a:avLst/>
          </a:prstGeom>
          <a:solidFill>
            <a:srgbClr val="21262D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486400" y="1280160"/>
            <a:ext cx="1664208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486400" y="137160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2011680"/>
            <a:ext cx="640080" cy="6400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59552" y="2788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577840" y="338328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Multi-Factor Authentication on all accounts as an extra layer of protection.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7223760" y="1280160"/>
            <a:ext cx="1664208" cy="3566160"/>
          </a:xfrm>
          <a:prstGeom prst="rect">
            <a:avLst/>
          </a:prstGeom>
          <a:solidFill>
            <a:srgbClr val="21262D"/>
          </a:solidFill>
          <a:ln w="25400">
            <a:solidFill>
              <a:srgbClr val="00C85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223760" y="1280160"/>
            <a:ext cx="1664208" cy="7315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223760" y="137160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6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824" y="2011680"/>
            <a:ext cx="640080" cy="6400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296912" y="2788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YOUR TEAM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7315200" y="338328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colleagues — phishing attacks are often sent to many people in the same organization.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When in doubt — REPORT! You will never get in trouble for reporting a suspicious email.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1440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5661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STAY SAFE.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STAY ALERT.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749040" y="640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749040" y="1188720"/>
            <a:ext cx="507492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252728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3400" y="118872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you click — urgency is a manipulation tactic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749040" y="1856232"/>
            <a:ext cx="507492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92024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43400" y="185623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 identity through a separate channel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3749040" y="2523744"/>
            <a:ext cx="507492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258775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343400" y="252374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MFA on every account — it stops 99% of credential attacks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3749040" y="3191256"/>
            <a:ext cx="507492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3255264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43400" y="319125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all suspicious emails — you protect the whole team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3749040" y="3858768"/>
            <a:ext cx="507492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3922776"/>
            <a:ext cx="384048" cy="38404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343400" y="385876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everyone's responsibility, not just IT's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3749040" y="4572000"/>
            <a:ext cx="5074920" cy="38404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3749040" y="45720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your IT Security Team immediately!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PptxGenJS</dc:creator>
  <cp:lastModifiedBy>PptxGenJS</cp:lastModifiedBy>
  <cp:revision>1</cp:revision>
  <dcterms:created xsi:type="dcterms:W3CDTF">2026-05-02T07:21:19Z</dcterms:created>
  <dcterms:modified xsi:type="dcterms:W3CDTF">2026-05-02T07:21:19Z</dcterms:modified>
</cp:coreProperties>
</file>